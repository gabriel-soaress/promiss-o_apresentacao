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5BF6A-8E45-4ED5-8E55-2DB1868F4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F41FF-61F7-4C09-93D1-AFE3D8B99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C7189-F3EE-4EC6-9345-1D58D6488B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22/10/2026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AB7D8-B0F1-4423-947C-D9E92FE96C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223DD-FF83-4570-A819-16C2E573D5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7611E-817F-40B3-A2BA-31BA4B38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9ADF5-19C2-40A6-9686-02B68BEBA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1F043-7662-41BD-B82A-039D364A76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22/10/2026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4974D-C5AD-4C79-9C36-57FBA7D0FA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DAB2-5D73-4E65-81B0-C658F60546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4C8B-4280-4348-A660-338E5E180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9511C-5784-4D56-A8FA-A1C15596E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66394-1D44-48E4-AE14-F8F9FC4C697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22/10/2026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70EA1-DC18-40FE-B45B-6BB1EBEC8D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0D4C9-AEAD-4B2F-88CD-975639A311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A1A38-2E2C-4742-904A-68FCB1FE8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8C567-B0AF-4A4C-84A4-DBAAB7851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D46F3-B1C0-49BC-AD22-83FC0AB25E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AD46D-05C2-4DC8-BF7B-72D0CFCB27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22/10/2026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3D590-FE3F-472C-B5EF-5C3A0FDC1E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8A7E5-6B1B-4FD3-9EC0-610CA9A7E3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4BD3-5852-4384-B3F9-D67DC87E4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FF90F-4817-41B8-8D1A-7E25CCC85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922EC-381F-4CB3-8C29-4044BE35A38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6EA74-EC7B-4E18-AE74-9FDD08086D0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ACF131-FA44-46CC-A815-9E6CA5664C4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440AF6-F8E6-42F4-AF9C-12C6D287B53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22/10/2026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799EAA-523A-4A9E-8371-B678815EC3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BDF58-68BF-475F-8521-62640AEF03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4BEA0-DE85-4502-92F5-5CB8269CB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25573-7A87-43B4-A8FE-7E337A8043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22/10/2026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944D2-AB9E-4C52-B2BF-536B04759A3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F8058-19F5-4C47-AC6C-0610F594B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04946-8D69-41ED-BA3E-5758EDC0DB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22/10/2026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F5444F-C4FE-40DD-9C73-5CB75974C6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17544-BA80-4ECF-88BB-0892392FC0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E572-707E-4AF6-8ADF-4D067C5D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9FDF1-57DC-4DB0-8F4B-C964FDD75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C51B0-7192-43A3-9483-2D031419BE7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668E5-7BED-43E2-A928-DC4A9A3350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22/10/2026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04D1B-42E5-44EE-8198-7E9A2312B5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C9923-A297-4E56-8F58-87C3DD8827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A9C27-2D7E-4D75-99CA-303E2B7C6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60457B-7A0E-461B-90BA-12D2A5306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3935A-88DA-4509-AF3F-909CD1DE366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3B2D1-3D0A-4462-8F7E-8C6FAE5EDC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22/10/2026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9A6A1-1889-4219-8896-051ABCBF66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2C75B-C0FF-4516-B169-52EFED297A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0F2FF-D887-4860-A71E-39A252F9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C48C9-E1CD-4EC3-AE77-3EE43CCA3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EF72C-7078-42D9-80B4-420DE779196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22/10/2026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830D1-DC5A-482A-8B55-BDCFE6F3DF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E06EC-D89B-4E73-8347-B44CC82F5D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4C329-CA1A-4CF3-AB34-B3B275BF6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3101E-DB9D-45B0-9010-83CB98054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10818-1659-4CB2-BD14-D2B5EE3595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22/10/2026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69CCB-FDB5-4954-8496-5848F78DE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66818-0315-4340-9331-72403C3322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B41F47-B090-4648-8A1B-712B406B7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9BD61-D9B9-418D-9EA9-89CB5BC87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8F7F0-4B0E-4E06-9D67-7AF1AE4DC85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22/10/2026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FA9E9-B44D-4187-96E3-E56517E2BA6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177C7-1F76-493B-977E-DA5F13FA483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"/>
            <a:ext cx="12192000" cy="4572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0AED0EB-81D7-461E-89AD-C6C8F97F1F29}"/>
              </a:ext>
            </a:extLst>
          </p:cNvPr>
          <p:cNvSpPr>
            <a:spLocks noGrp="1"/>
          </p:cNvSpPr>
          <p:nvPr/>
        </p:nvSpPr>
        <p:spPr>
          <a:xfrm>
            <a:off x="0" y="4200526"/>
            <a:ext cx="12192000" cy="2657474"/>
          </a:xfrm>
          <a:prstGeom prst="rect">
            <a:avLst/>
          </a:prstGeom>
          <a:solidFill>
            <a:srgbClr val="F3EFF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676F426-C1A9-4BAE-9D91-FD3DBF909E4D}"/>
              </a:ext>
            </a:extLst>
          </p:cNvPr>
          <p:cNvSpPr>
            <a:spLocks noGrp="1"/>
          </p:cNvSpPr>
          <p:nvPr/>
        </p:nvSpPr>
        <p:spPr>
          <a:xfrm>
            <a:off x="9001125" y="4429125"/>
            <a:ext cx="276225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buNone/>
              <a:defRPr sz="2400" b="1">
                <a:solidFill>
                  <a:srgbClr val="382878"/>
                </a:solidFill>
                <a:latin typeface="Aptos"/>
                <a:ea typeface="Aptos"/>
                <a:cs typeface="Aptos"/>
              </a:defRPr>
            </a:pPr>
            <a:r>
              <a:rPr sz="3600" b="1" dirty="0" err="1">
                <a:solidFill>
                  <a:srgbClr val="382878"/>
                </a:solidFill>
                <a:latin typeface="Aptos"/>
                <a:ea typeface="Aptos"/>
                <a:cs typeface="Aptos"/>
              </a:rPr>
              <a:t>Mostra</a:t>
            </a:r>
            <a:r>
              <a:rPr sz="36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 de</a:t>
            </a:r>
            <a:endParaRPr sz="3600" b="1" dirty="0">
              <a:solidFill>
                <a:schemeClr val="accent5">
                  <a:lumMod val="75000"/>
                </a:scheme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0755B7-8032-4B45-86C5-C9D7F6175E6C}"/>
              </a:ext>
            </a:extLst>
          </p:cNvPr>
          <p:cNvSpPr>
            <a:spLocks noGrp="1"/>
          </p:cNvSpPr>
          <p:nvPr/>
        </p:nvSpPr>
        <p:spPr>
          <a:xfrm>
            <a:off x="457200" y="4581525"/>
            <a:ext cx="828675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500" b="1">
                <a:solidFill>
                  <a:srgbClr val="382878"/>
                </a:solidFill>
                <a:latin typeface="Georgia"/>
                <a:ea typeface="Georgia"/>
                <a:cs typeface="Georgia"/>
              </a:defRPr>
            </a:pPr>
            <a:r>
              <a:t>Sistema Integrado de Avaliação de Eventos de Promissão/SP</a:t>
            </a:r>
            <a:endParaRPr sz="2400" b="1">
              <a:solidFill>
                <a:srgbClr val="12382B"/>
              </a:solidFill>
              <a:latin typeface="Georgia"/>
              <a:ea typeface="Georgia"/>
              <a:cs typeface="Georgia"/>
            </a:endParaRPr>
          </a:p>
          <a:p>
            <a:pPr>
              <a:spcBef>
                <a:spcPts val="400"/>
              </a:spcBef>
              <a:defRPr sz="1400" b="0">
                <a:solidFill>
                  <a:srgbClr val="5B6675"/>
                </a:solidFill>
                <a:latin typeface="Aptos"/>
              </a:defRPr>
            </a:pPr>
            <a:r>
              <a:t>Da prancheta ao dado em tempo real: totem físico, app mobile e gestão pública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4C7058-ADAD-4B4F-84C4-EB8D5A7F7222}"/>
              </a:ext>
            </a:extLst>
          </p:cNvPr>
          <p:cNvSpPr>
            <a:spLocks noGrp="1"/>
          </p:cNvSpPr>
          <p:nvPr/>
        </p:nvSpPr>
        <p:spPr>
          <a:xfrm>
            <a:off x="457200" y="5514975"/>
            <a:ext cx="752475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34313F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382878"/>
                </a:solidFill>
                <a:latin typeface="Aptos"/>
              </a:rPr>
              <a:t>Discentes: </a:t>
            </a:r>
            <a:r>
              <a:rPr sz="1300" b="0">
                <a:solidFill>
                  <a:srgbClr val="34313F"/>
                </a:solidFill>
                <a:latin typeface="Aptos"/>
              </a:rPr>
              <a:t>Gabriel Soares, Gustavo Labos, Livia Gomes, Lucas Altino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382878"/>
                </a:solidFill>
                <a:latin typeface="Aptos"/>
              </a:rPr>
              <a:t>Curso: </a:t>
            </a:r>
            <a:r>
              <a:rPr sz="1300" b="0">
                <a:solidFill>
                  <a:srgbClr val="34313F"/>
                </a:solidFill>
                <a:latin typeface="Aptos"/>
              </a:rPr>
              <a:t>TSI — Tecnologia em Sistemas para Internet (4º Semestre)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382878"/>
                </a:solidFill>
                <a:latin typeface="Aptos"/>
              </a:rPr>
              <a:t>Parceiro: </a:t>
            </a:r>
            <a:r>
              <a:rPr sz="1300" b="0">
                <a:solidFill>
                  <a:srgbClr val="34313F"/>
                </a:solidFill>
                <a:latin typeface="Aptos"/>
              </a:rPr>
              <a:t>Prefeitura Municipal de Promissão / Diretoria de Turismo</a:t>
            </a:r>
          </a:p>
        </p:txBody>
      </p:sp>
      <p:pic>
        <p:nvPicPr>
          <p:cNvPr id="20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1" y="5733161"/>
            <a:ext cx="2705100" cy="968302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7E7D4580-8EBF-401C-8F6C-26928EAADD58}"/>
              </a:ext>
            </a:extLst>
          </p:cNvPr>
          <p:cNvSpPr>
            <a:spLocks noGrp="1"/>
          </p:cNvSpPr>
          <p:nvPr/>
        </p:nvSpPr>
        <p:spPr>
          <a:xfrm>
            <a:off x="9001125" y="4857750"/>
            <a:ext cx="276225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buNone/>
              <a:defRPr sz="2700" b="1">
                <a:solidFill>
                  <a:srgbClr val="382878"/>
                </a:solidFill>
                <a:latin typeface="Aptos"/>
                <a:ea typeface="Aptos"/>
                <a:cs typeface="Aptos"/>
              </a:defRPr>
            </a:pPr>
            <a:r>
              <a:rPr sz="3600" b="1" dirty="0" err="1">
                <a:solidFill>
                  <a:srgbClr val="382878"/>
                </a:solidFill>
                <a:latin typeface="Aptos"/>
                <a:ea typeface="Aptos"/>
                <a:cs typeface="Aptos"/>
              </a:rPr>
              <a:t>Extensão</a:t>
            </a:r>
            <a:endParaRPr sz="2800" b="1" dirty="0">
              <a:solidFill>
                <a:schemeClr val="accent5">
                  <a:lumMod val="75000"/>
                </a:schemeClr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1" name="Picture 20" descr="brasao-rod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65760"/>
            <a:ext cx="724389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1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04DC59-8E73-4A96-B543-6EE8D39B28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0C17941-5A43-4C70-BFD9-524C47CF707E}"/>
              </a:ext>
            </a:extLst>
          </p:cNvPr>
          <p:cNvSpPr>
            <a:spLocks noGrp="1"/>
          </p:cNvSpPr>
          <p:nvPr/>
        </p:nvSpPr>
        <p:spPr>
          <a:xfrm>
            <a:off x="11475720" y="109728"/>
            <a:ext cx="310896" cy="310896"/>
          </a:xfrm>
          <a:prstGeom prst="round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348579-5F16-4FCD-A946-F9B9CBB378E7}"/>
              </a:ext>
            </a:extLst>
          </p:cNvPr>
          <p:cNvSpPr>
            <a:spLocks noGrp="1"/>
          </p:cNvSpPr>
          <p:nvPr/>
        </p:nvSpPr>
        <p:spPr>
          <a:xfrm>
            <a:off x="11777472" y="109728"/>
            <a:ext cx="274320" cy="274320"/>
          </a:xfrm>
          <a:prstGeom prst="roundRect">
            <a:avLst/>
          </a:prstGeom>
          <a:solidFill>
            <a:srgbClr val="B6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5A63C7-E9A2-472F-9A71-998F5609B531}"/>
              </a:ext>
            </a:extLst>
          </p:cNvPr>
          <p:cNvSpPr>
            <a:spLocks noGrp="1"/>
          </p:cNvSpPr>
          <p:nvPr/>
        </p:nvSpPr>
        <p:spPr>
          <a:xfrm>
            <a:off x="594360" y="713232"/>
            <a:ext cx="1051560" cy="22860"/>
          </a:xfrm>
          <a:prstGeom prst="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6001C1-9D5A-4895-8E43-293F1C932849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3172142" cy="243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buNone/>
              <a:defRPr sz="1000" b="1">
                <a:solidFill>
                  <a:srgbClr val="382878"/>
                </a:solidFill>
                <a:latin typeface="Aptos"/>
                <a:ea typeface="Aptos"/>
                <a:cs typeface="Aptos"/>
              </a:defRPr>
            </a:pPr>
            <a:r>
              <a:rPr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MOSTRA DE EXTENSÃO • </a:t>
            </a:r>
            <a:r>
              <a:rPr lang="pt-BR"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SNCT 2026 • Ciência Delas • </a:t>
            </a:r>
            <a:r>
              <a:rPr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IFSP CAMPUS BIRIGUI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7A86F-D207-4D4D-95E8-CAAA6F4D8CFD}"/>
              </a:ext>
            </a:extLst>
          </p:cNvPr>
          <p:cNvSpPr>
            <a:spLocks noGrp="1"/>
          </p:cNvSpPr>
          <p:nvPr/>
        </p:nvSpPr>
        <p:spPr>
          <a:xfrm>
            <a:off x="10744200" y="6446520"/>
            <a:ext cx="24638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buNone/>
              <a:defRPr sz="900" b="0">
                <a:solidFill>
                  <a:srgbClr val="6A63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37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F0183CA-9619-499A-8D76-D06135C94490}"/>
              </a:ext>
            </a:extLst>
          </p:cNvPr>
          <p:cNvSpPr>
            <a:spLocks noGrp="1"/>
          </p:cNvSpPr>
          <p:nvPr/>
        </p:nvSpPr>
        <p:spPr>
          <a:xfrm>
            <a:off x="594360" y="1038225"/>
            <a:ext cx="10953750" cy="628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382878"/>
                </a:solidFill>
                <a:latin typeface="Georgia"/>
                <a:ea typeface="Georgia"/>
                <a:cs typeface="Georgia"/>
              </a:defRPr>
            </a:pPr>
            <a:r>
              <a:rPr sz="2800" b="1" dirty="0" err="1">
                <a:solidFill>
                  <a:srgbClr val="382878"/>
                </a:solidFill>
                <a:latin typeface="Georgia"/>
                <a:ea typeface="Georgia"/>
                <a:cs typeface="Georgia"/>
              </a:rPr>
              <a:t>Introdução</a:t>
            </a:r>
            <a:endParaRPr sz="2800" b="1" dirty="0">
              <a:solidFill>
                <a:srgbClr val="382878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A15DE7E-AECF-9284-6EED-08E05E9863A6}"/>
              </a:ext>
            </a:extLst>
          </p:cNvPr>
          <p:cNvSpPr>
            <a:spLocks noGrp="1"/>
          </p:cNvSpPr>
          <p:nvPr/>
        </p:nvSpPr>
        <p:spPr>
          <a:xfrm>
            <a:off x="594360" y="2047875"/>
            <a:ext cx="6858000" cy="342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  <a:buNone/>
              <a:defRPr sz="2400" b="0">
                <a:solidFill>
                  <a:srgbClr val="34313F"/>
                </a:solidFill>
                <a:latin typeface="Aptos"/>
                <a:ea typeface="Aptos"/>
                <a:cs typeface="Aptos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1">
                <a:solidFill>
                  <a:srgbClr val="382878"/>
                </a:solidFill>
                <a:latin typeface="Aptos"/>
              </a:rPr>
              <a:t>• </a:t>
            </a:r>
            <a:r>
              <a:rPr sz="1350" b="1">
                <a:solidFill>
                  <a:srgbClr val="34313F"/>
                </a:solidFill>
                <a:latin typeface="Aptos"/>
              </a:rPr>
              <a:t>Contexto de Promissão/SP: </a:t>
            </a:r>
            <a:r>
              <a:rPr sz="1350" b="0">
                <a:solidFill>
                  <a:srgbClr val="34313F"/>
                </a:solidFill>
                <a:latin typeface="Aptos"/>
              </a:rPr>
              <a:t>Município paulista com ~35 mil habitantes, forte identidade turística e eventos comemorativos (Festa do Peão) que reúnem de 2.000 a 5.000 pessoas por edição.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1">
                <a:solidFill>
                  <a:srgbClr val="382878"/>
                </a:solidFill>
                <a:latin typeface="Aptos"/>
              </a:rPr>
              <a:t>• </a:t>
            </a:r>
            <a:r>
              <a:rPr sz="1350" b="1">
                <a:solidFill>
                  <a:srgbClr val="34313F"/>
                </a:solidFill>
                <a:latin typeface="Aptos"/>
              </a:rPr>
              <a:t>Gargalo da Coleta Manual: </a:t>
            </a:r>
            <a:r>
              <a:rPr sz="1350" b="0">
                <a:solidFill>
                  <a:srgbClr val="34313F"/>
                </a:solidFill>
                <a:latin typeface="Aptos"/>
              </a:rPr>
              <a:t>Atualmente, servidores municipais utilizam prancheta e papel para entrevistar o público em meio à aglomeração.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1">
                <a:solidFill>
                  <a:srgbClr val="382878"/>
                </a:solidFill>
                <a:latin typeface="Aptos"/>
              </a:rPr>
              <a:t>• </a:t>
            </a:r>
            <a:r>
              <a:rPr sz="1350" b="1">
                <a:solidFill>
                  <a:srgbClr val="34313F"/>
                </a:solidFill>
                <a:latin typeface="Aptos"/>
              </a:rPr>
              <a:t>Retrabalho e Falta de Dados: </a:t>
            </a:r>
            <a:r>
              <a:rPr sz="1350" b="0">
                <a:solidFill>
                  <a:srgbClr val="34313F"/>
                </a:solidFill>
                <a:latin typeface="Aptos"/>
              </a:rPr>
              <a:t>Fichas de papel se perdem, exigem semanas de digitação em planilhas e geram relatórios tardios — impedindo correções durante o evento.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1">
                <a:solidFill>
                  <a:srgbClr val="382878"/>
                </a:solidFill>
                <a:latin typeface="Aptos"/>
              </a:rPr>
              <a:t>• </a:t>
            </a:r>
            <a:r>
              <a:rPr sz="1350" b="1">
                <a:solidFill>
                  <a:srgbClr val="34313F"/>
                </a:solidFill>
                <a:latin typeface="Aptos"/>
              </a:rPr>
              <a:t>Parceria Institucional: </a:t>
            </a:r>
            <a:r>
              <a:rPr sz="1350" b="0">
                <a:solidFill>
                  <a:srgbClr val="34313F"/>
                </a:solidFill>
                <a:latin typeface="Aptos"/>
              </a:rPr>
              <a:t>Projeto concebido em parceria direta com a Diretoria de Turismo de Promissão para transformar a gestão de eventos com dados em tempo real.</a:t>
            </a:r>
          </a:p>
        </p:txBody>
      </p:sp>
      <p:pic>
        <p:nvPicPr>
          <p:cNvPr id="11" name="Picture 10" descr="promissao_doc_im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645920"/>
            <a:ext cx="2269325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80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A497F-7266-4A9C-B343-B7FD13BFA8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24B516A-D4D4-4767-8AE8-5E9D1CB39926}"/>
              </a:ext>
            </a:extLst>
          </p:cNvPr>
          <p:cNvSpPr>
            <a:spLocks noGrp="1"/>
          </p:cNvSpPr>
          <p:nvPr/>
        </p:nvSpPr>
        <p:spPr>
          <a:xfrm>
            <a:off x="11475720" y="109728"/>
            <a:ext cx="310896" cy="310896"/>
          </a:xfrm>
          <a:prstGeom prst="round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C9078D3-68F3-47E1-89B9-C4CA6384FDEE}"/>
              </a:ext>
            </a:extLst>
          </p:cNvPr>
          <p:cNvSpPr>
            <a:spLocks noGrp="1"/>
          </p:cNvSpPr>
          <p:nvPr/>
        </p:nvSpPr>
        <p:spPr>
          <a:xfrm>
            <a:off x="11777472" y="109728"/>
            <a:ext cx="274320" cy="274320"/>
          </a:xfrm>
          <a:prstGeom prst="roundRect">
            <a:avLst/>
          </a:prstGeom>
          <a:solidFill>
            <a:srgbClr val="B6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88105C-41F3-474F-82AE-F0277A37A240}"/>
              </a:ext>
            </a:extLst>
          </p:cNvPr>
          <p:cNvSpPr>
            <a:spLocks noGrp="1"/>
          </p:cNvSpPr>
          <p:nvPr/>
        </p:nvSpPr>
        <p:spPr>
          <a:xfrm>
            <a:off x="594360" y="713232"/>
            <a:ext cx="1051560" cy="22860"/>
          </a:xfrm>
          <a:prstGeom prst="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5F9A91-EFF5-418C-9129-185FD069A245}"/>
              </a:ext>
            </a:extLst>
          </p:cNvPr>
          <p:cNvSpPr>
            <a:spLocks noGrp="1"/>
          </p:cNvSpPr>
          <p:nvPr/>
        </p:nvSpPr>
        <p:spPr>
          <a:xfrm>
            <a:off x="10744200" y="6446520"/>
            <a:ext cx="24638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buNone/>
              <a:defRPr sz="900" b="0">
                <a:solidFill>
                  <a:srgbClr val="6A63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37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CBEC18-E004-7E43-07A9-7128E40BEB3D}"/>
              </a:ext>
            </a:extLst>
          </p:cNvPr>
          <p:cNvSpPr>
            <a:spLocks noGrp="1"/>
          </p:cNvSpPr>
          <p:nvPr/>
        </p:nvSpPr>
        <p:spPr>
          <a:xfrm>
            <a:off x="594360" y="1038225"/>
            <a:ext cx="10953750" cy="628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382878"/>
                </a:solidFill>
                <a:latin typeface="Georgia"/>
                <a:ea typeface="Georgia"/>
                <a:cs typeface="Georgia"/>
              </a:defRPr>
            </a:pPr>
            <a:r>
              <a:rPr sz="2800" b="1" dirty="0" err="1">
                <a:solidFill>
                  <a:srgbClr val="382878"/>
                </a:solidFill>
                <a:latin typeface="Georgia"/>
                <a:ea typeface="Georgia"/>
                <a:cs typeface="Georgia"/>
              </a:rPr>
              <a:t>Objetivos</a:t>
            </a:r>
            <a:endParaRPr sz="2800" b="1" dirty="0">
              <a:solidFill>
                <a:srgbClr val="382878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AE370EE-7BC5-5657-CD38-2590D3DA352A}"/>
              </a:ext>
            </a:extLst>
          </p:cNvPr>
          <p:cNvSpPr>
            <a:spLocks noGrp="1"/>
          </p:cNvSpPr>
          <p:nvPr/>
        </p:nvSpPr>
        <p:spPr>
          <a:xfrm>
            <a:off x="594360" y="2047875"/>
            <a:ext cx="10953750" cy="342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  <a:buNone/>
              <a:defRPr sz="2400" b="0">
                <a:solidFill>
                  <a:srgbClr val="34313F"/>
                </a:solidFill>
                <a:latin typeface="Aptos"/>
                <a:ea typeface="Aptos"/>
                <a:cs typeface="Aptos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50" b="1">
                <a:solidFill>
                  <a:srgbClr val="382878"/>
                </a:solidFill>
                <a:latin typeface="Aptos"/>
              </a:rPr>
              <a:t>• </a:t>
            </a:r>
            <a:r>
              <a:rPr sz="1450" b="1">
                <a:solidFill>
                  <a:srgbClr val="34313F"/>
                </a:solidFill>
                <a:latin typeface="Aptos"/>
              </a:rPr>
              <a:t>Objetivo Geral: </a:t>
            </a:r>
            <a:r>
              <a:rPr sz="1450" b="0">
                <a:solidFill>
                  <a:srgbClr val="34313F"/>
                </a:solidFill>
                <a:latin typeface="Aptos"/>
              </a:rPr>
              <a:t>Desenvolver e implantar um ecossistema integrado de coleta de feedback, engajamento e inteligência pública para os eventos municipais de Promissão, unificado centralmente pelo CPF do cidadão.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50" b="1">
                <a:solidFill>
                  <a:srgbClr val="382878"/>
                </a:solidFill>
                <a:latin typeface="Aptos"/>
              </a:rPr>
              <a:t>Objetivos Específicos: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50" b="1">
                <a:solidFill>
                  <a:srgbClr val="00843D"/>
                </a:solidFill>
                <a:latin typeface="Aptos"/>
              </a:rPr>
              <a:t>   - </a:t>
            </a:r>
            <a:r>
              <a:rPr sz="1350" b="1">
                <a:solidFill>
                  <a:srgbClr val="34313F"/>
                </a:solidFill>
                <a:latin typeface="Aptos"/>
              </a:rPr>
              <a:t>Totem de Autoatendimento: </a:t>
            </a:r>
            <a:r>
              <a:rPr sz="1350" b="0">
                <a:solidFill>
                  <a:srgbClr val="34313F"/>
                </a:solidFill>
                <a:latin typeface="Aptos"/>
              </a:rPr>
              <a:t>Criar quiosque físico de toque rápido (menos de 20s), acessível para idosos e famílias da zona rural sem depender do celular.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50" b="1">
                <a:solidFill>
                  <a:srgbClr val="00843D"/>
                </a:solidFill>
                <a:latin typeface="Aptos"/>
              </a:rPr>
              <a:t>   - </a:t>
            </a:r>
            <a:r>
              <a:rPr sz="1350" b="1">
                <a:solidFill>
                  <a:srgbClr val="34313F"/>
                </a:solidFill>
                <a:latin typeface="Aptos"/>
              </a:rPr>
              <a:t>Mobilidade &amp; Gamificação: </a:t>
            </a:r>
            <a:r>
              <a:rPr sz="1350" b="0">
                <a:solidFill>
                  <a:srgbClr val="34313F"/>
                </a:solidFill>
                <a:latin typeface="Aptos"/>
              </a:rPr>
              <a:t>Disponibilizar Web App do Cidadão com agenda, avaliação aberta e acúmulo de pontos retroativos no CPF.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50" b="1">
                <a:solidFill>
                  <a:srgbClr val="00843D"/>
                </a:solidFill>
                <a:latin typeface="Aptos"/>
              </a:rPr>
              <a:t>   - </a:t>
            </a:r>
            <a:r>
              <a:rPr sz="1350" b="1">
                <a:solidFill>
                  <a:srgbClr val="34313F"/>
                </a:solidFill>
                <a:latin typeface="Aptos"/>
              </a:rPr>
              <a:t>Eficiência para a Equipe: </a:t>
            </a:r>
            <a:r>
              <a:rPr sz="1350" b="0">
                <a:solidFill>
                  <a:srgbClr val="34313F"/>
                </a:solidFill>
                <a:latin typeface="Aptos"/>
              </a:rPr>
              <a:t>Substituir pranchetas por um aplicativo ágil de campo com funcionamento offline-first.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50" b="1">
                <a:solidFill>
                  <a:srgbClr val="00843D"/>
                </a:solidFill>
                <a:latin typeface="Aptos"/>
              </a:rPr>
              <a:t>   - </a:t>
            </a:r>
            <a:r>
              <a:rPr sz="1350" b="1">
                <a:solidFill>
                  <a:srgbClr val="34313F"/>
                </a:solidFill>
                <a:latin typeface="Aptos"/>
              </a:rPr>
              <a:t>Decisão Baseada em Dados: </a:t>
            </a:r>
            <a:r>
              <a:rPr sz="1350" b="0">
                <a:solidFill>
                  <a:srgbClr val="34313F"/>
                </a:solidFill>
                <a:latin typeface="Aptos"/>
              </a:rPr>
              <a:t>Entregar dashboard ao vivo para a prefeitura monitorar satisfação (limpeza, segurança, atrações) em tempo real.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71CA8FDB-558F-4168-AB69-283015F65023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3172142" cy="243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buNone/>
              <a:defRPr sz="1000" b="1">
                <a:solidFill>
                  <a:srgbClr val="382878"/>
                </a:solidFill>
                <a:latin typeface="Aptos"/>
                <a:ea typeface="Aptos"/>
                <a:cs typeface="Aptos"/>
              </a:defRPr>
            </a:pPr>
            <a:r>
              <a:rPr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MOSTRA DE EXTENSÃO • </a:t>
            </a:r>
            <a:r>
              <a:rPr lang="pt-BR"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SNCT 2026 • Ciência Delas • </a:t>
            </a:r>
            <a:r>
              <a:rPr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IFSP CAMPUS BIRIGUI</a:t>
            </a:r>
          </a:p>
        </p:txBody>
      </p:sp>
    </p:spTree>
    <p:extLst>
      <p:ext uri="{BB962C8B-B14F-4D97-AF65-F5344CB8AC3E}">
        <p14:creationId xmlns:p14="http://schemas.microsoft.com/office/powerpoint/2010/main" val="17935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3D9FFA-1113-49B9-85AC-4C51DD9837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62795BA-92B1-43A2-AC12-D265278AED4B}"/>
              </a:ext>
            </a:extLst>
          </p:cNvPr>
          <p:cNvSpPr>
            <a:spLocks noGrp="1"/>
          </p:cNvSpPr>
          <p:nvPr/>
        </p:nvSpPr>
        <p:spPr>
          <a:xfrm>
            <a:off x="11475720" y="109728"/>
            <a:ext cx="310896" cy="310896"/>
          </a:xfrm>
          <a:prstGeom prst="round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0F52BF2-CF2A-4A54-80B6-CB3EDE52E5BF}"/>
              </a:ext>
            </a:extLst>
          </p:cNvPr>
          <p:cNvSpPr>
            <a:spLocks noGrp="1"/>
          </p:cNvSpPr>
          <p:nvPr/>
        </p:nvSpPr>
        <p:spPr>
          <a:xfrm>
            <a:off x="11777472" y="109728"/>
            <a:ext cx="274320" cy="274320"/>
          </a:xfrm>
          <a:prstGeom prst="roundRect">
            <a:avLst/>
          </a:prstGeom>
          <a:solidFill>
            <a:srgbClr val="B6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571882-BB31-4412-9BCC-68D7DA182DE0}"/>
              </a:ext>
            </a:extLst>
          </p:cNvPr>
          <p:cNvSpPr>
            <a:spLocks noGrp="1"/>
          </p:cNvSpPr>
          <p:nvPr/>
        </p:nvSpPr>
        <p:spPr>
          <a:xfrm>
            <a:off x="594360" y="713232"/>
            <a:ext cx="1051560" cy="22860"/>
          </a:xfrm>
          <a:prstGeom prst="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EF0290-C18A-4CDC-85FC-CA96E0037960}"/>
              </a:ext>
            </a:extLst>
          </p:cNvPr>
          <p:cNvSpPr>
            <a:spLocks noGrp="1"/>
          </p:cNvSpPr>
          <p:nvPr/>
        </p:nvSpPr>
        <p:spPr>
          <a:xfrm>
            <a:off x="10744200" y="6446520"/>
            <a:ext cx="24638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buNone/>
              <a:defRPr sz="900" b="0">
                <a:solidFill>
                  <a:srgbClr val="6A63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37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FDB789-9D1C-8EF7-3D18-38E0E936089B}"/>
              </a:ext>
            </a:extLst>
          </p:cNvPr>
          <p:cNvSpPr>
            <a:spLocks noGrp="1"/>
          </p:cNvSpPr>
          <p:nvPr/>
        </p:nvSpPr>
        <p:spPr>
          <a:xfrm>
            <a:off x="594360" y="1038225"/>
            <a:ext cx="10953750" cy="628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382878"/>
                </a:solidFill>
                <a:latin typeface="Georgia"/>
                <a:ea typeface="Georgia"/>
                <a:cs typeface="Georgia"/>
              </a:defRPr>
            </a:pPr>
            <a:r>
              <a:rPr sz="2800" b="1" dirty="0" err="1">
                <a:solidFill>
                  <a:srgbClr val="382878"/>
                </a:solidFill>
                <a:latin typeface="Georgia"/>
                <a:ea typeface="Georgia"/>
                <a:cs typeface="Georgia"/>
              </a:rPr>
              <a:t>Desenvolvimento</a:t>
            </a:r>
            <a:endParaRPr sz="2800" b="1" dirty="0">
              <a:solidFill>
                <a:srgbClr val="382878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45C64-9E47-5F7B-98AB-96417C8B57FB}"/>
              </a:ext>
            </a:extLst>
          </p:cNvPr>
          <p:cNvSpPr>
            <a:spLocks noGrp="1"/>
          </p:cNvSpPr>
          <p:nvPr/>
        </p:nvSpPr>
        <p:spPr>
          <a:xfrm>
            <a:off x="594360" y="2047875"/>
            <a:ext cx="6858000" cy="342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  <a:buNone/>
              <a:defRPr sz="2400" b="0">
                <a:solidFill>
                  <a:srgbClr val="34313F"/>
                </a:solidFill>
                <a:latin typeface="Aptos"/>
                <a:ea typeface="Aptos"/>
                <a:cs typeface="Aptos"/>
              </a:defRPr>
            </a:pPr>
            <a:endParaRPr sz="2400">
              <a:latin typeface="Arial"/>
              <a:ea typeface="Arial"/>
              <a:cs typeface="Arial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1">
                <a:solidFill>
                  <a:srgbClr val="382878"/>
                </a:solidFill>
                <a:latin typeface="Aptos"/>
              </a:rPr>
              <a:t>• </a:t>
            </a:r>
            <a:r>
              <a:rPr sz="1350" b="1">
                <a:solidFill>
                  <a:srgbClr val="34313F"/>
                </a:solidFill>
                <a:latin typeface="Aptos"/>
              </a:rPr>
              <a:t>Engenharia de Requisitos &amp; LGPD: </a:t>
            </a:r>
            <a:r>
              <a:rPr sz="1350" b="0">
                <a:solidFill>
                  <a:srgbClr val="34313F"/>
                </a:solidFill>
                <a:latin typeface="Aptos"/>
              </a:rPr>
              <a:t>Mapeamento completo de requisitos de usuário, funcionais e não-funcionais (anonimização de dados, CPF mascarado e alta disponibilidade).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1">
                <a:solidFill>
                  <a:srgbClr val="382878"/>
                </a:solidFill>
                <a:latin typeface="Aptos"/>
              </a:rPr>
              <a:t>• </a:t>
            </a:r>
            <a:r>
              <a:rPr sz="1350" b="1">
                <a:solidFill>
                  <a:srgbClr val="34313F"/>
                </a:solidFill>
                <a:latin typeface="Aptos"/>
              </a:rPr>
              <a:t>Concepção do Totem Físico: </a:t>
            </a:r>
            <a:r>
              <a:rPr sz="1350" b="0">
                <a:solidFill>
                  <a:srgbClr val="34313F"/>
                </a:solidFill>
                <a:latin typeface="Aptos"/>
              </a:rPr>
              <a:t>Modelagem 3D do gabinete em CAD (Montagem1.obj) e renderização WebGL interativa com paleta institucional.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1">
                <a:solidFill>
                  <a:srgbClr val="382878"/>
                </a:solidFill>
                <a:latin typeface="Aptos"/>
              </a:rPr>
              <a:t>• </a:t>
            </a:r>
            <a:r>
              <a:rPr sz="1350" b="1">
                <a:solidFill>
                  <a:srgbClr val="34313F"/>
                </a:solidFill>
                <a:latin typeface="Aptos"/>
              </a:rPr>
              <a:t>Construção dos Softwares: </a:t>
            </a:r>
            <a:r>
              <a:rPr sz="1350" b="0">
                <a:solidFill>
                  <a:srgbClr val="34313F"/>
                </a:solidFill>
                <a:latin typeface="Aptos"/>
              </a:rPr>
              <a:t>Desenvolvimento do terminal Kiosk em 4 passos sequenciais, App do Cidadão responsivo e painel analítico.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50" b="1">
                <a:solidFill>
                  <a:srgbClr val="382878"/>
                </a:solidFill>
                <a:latin typeface="Aptos"/>
              </a:rPr>
              <a:t>• </a:t>
            </a:r>
            <a:r>
              <a:rPr sz="1350" b="1">
                <a:solidFill>
                  <a:srgbClr val="34313F"/>
                </a:solidFill>
                <a:latin typeface="Aptos"/>
              </a:rPr>
              <a:t>Infraestrutura em Nuvem: </a:t>
            </a:r>
            <a:r>
              <a:rPr sz="1350" b="0">
                <a:solidFill>
                  <a:srgbClr val="34313F"/>
                </a:solidFill>
                <a:latin typeface="Aptos"/>
              </a:rPr>
              <a:t>Backend com API em Node.js/Express, banco de dados PostgreSQL em nuvem (Neon) e comunicação bidirecional em tempo real.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9E9DAB6A-7C96-47B2-AC5D-ECA6CEB6CE9C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3172142" cy="243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buNone/>
              <a:defRPr sz="1000" b="1">
                <a:solidFill>
                  <a:srgbClr val="382878"/>
                </a:solidFill>
                <a:latin typeface="Aptos"/>
                <a:ea typeface="Aptos"/>
                <a:cs typeface="Aptos"/>
              </a:defRPr>
            </a:pPr>
            <a:r>
              <a:rPr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MOSTRA DE EXTENSÃO • </a:t>
            </a:r>
            <a:r>
              <a:rPr lang="pt-BR"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SNCT 2026 • Ciência Delas • </a:t>
            </a:r>
            <a:r>
              <a:rPr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IFSP CAMPUS BIRIGUI</a:t>
            </a:r>
          </a:p>
        </p:txBody>
      </p:sp>
      <p:pic>
        <p:nvPicPr>
          <p:cNvPr id="12" name="Picture 11" descr="promissao_doc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645920"/>
            <a:ext cx="3979469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4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E1EAFA-8D42-41A9-ABBE-FBA7F692BD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B803CA-AA1F-463C-A320-C0C3B988AB14}"/>
              </a:ext>
            </a:extLst>
          </p:cNvPr>
          <p:cNvSpPr>
            <a:spLocks noGrp="1"/>
          </p:cNvSpPr>
          <p:nvPr/>
        </p:nvSpPr>
        <p:spPr>
          <a:xfrm>
            <a:off x="11475720" y="109728"/>
            <a:ext cx="310896" cy="310896"/>
          </a:xfrm>
          <a:prstGeom prst="round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5740CCB-AC16-441C-992A-CB06FF91AB25}"/>
              </a:ext>
            </a:extLst>
          </p:cNvPr>
          <p:cNvSpPr>
            <a:spLocks noGrp="1"/>
          </p:cNvSpPr>
          <p:nvPr/>
        </p:nvSpPr>
        <p:spPr>
          <a:xfrm>
            <a:off x="11777472" y="109728"/>
            <a:ext cx="274320" cy="274320"/>
          </a:xfrm>
          <a:prstGeom prst="roundRect">
            <a:avLst/>
          </a:prstGeom>
          <a:solidFill>
            <a:srgbClr val="B6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988F59-46D5-491A-A49D-68C657B55127}"/>
              </a:ext>
            </a:extLst>
          </p:cNvPr>
          <p:cNvSpPr>
            <a:spLocks noGrp="1"/>
          </p:cNvSpPr>
          <p:nvPr/>
        </p:nvSpPr>
        <p:spPr>
          <a:xfrm>
            <a:off x="594360" y="713232"/>
            <a:ext cx="1051560" cy="22860"/>
          </a:xfrm>
          <a:prstGeom prst="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877659-6C06-4668-99A3-0B8C53BB0CAB}"/>
              </a:ext>
            </a:extLst>
          </p:cNvPr>
          <p:cNvSpPr>
            <a:spLocks noGrp="1"/>
          </p:cNvSpPr>
          <p:nvPr/>
        </p:nvSpPr>
        <p:spPr>
          <a:xfrm>
            <a:off x="10744200" y="6446520"/>
            <a:ext cx="24638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buNone/>
              <a:defRPr sz="900" b="0">
                <a:solidFill>
                  <a:srgbClr val="6A63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37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227ABE1-32A1-F6A7-4363-C09A24D60BBF}"/>
              </a:ext>
            </a:extLst>
          </p:cNvPr>
          <p:cNvSpPr>
            <a:spLocks noGrp="1"/>
          </p:cNvSpPr>
          <p:nvPr/>
        </p:nvSpPr>
        <p:spPr>
          <a:xfrm>
            <a:off x="594360" y="1038225"/>
            <a:ext cx="10953750" cy="628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382878"/>
                </a:solidFill>
                <a:latin typeface="Georgia"/>
                <a:ea typeface="Georgia"/>
                <a:cs typeface="Georgia"/>
              </a:defRPr>
            </a:pPr>
            <a:r>
              <a:rPr sz="2800" b="1" dirty="0" err="1">
                <a:solidFill>
                  <a:srgbClr val="382878"/>
                </a:solidFill>
                <a:latin typeface="Georgia"/>
                <a:ea typeface="Georgia"/>
                <a:cs typeface="Georgia"/>
              </a:rPr>
              <a:t>Resultados</a:t>
            </a:r>
            <a:endParaRPr sz="2800" b="1" dirty="0">
              <a:solidFill>
                <a:srgbClr val="382878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1AE7CF7-E4FC-33F5-CBBD-DECEE33BC515}"/>
              </a:ext>
            </a:extLst>
          </p:cNvPr>
          <p:cNvSpPr>
            <a:spLocks noGrp="1"/>
          </p:cNvSpPr>
          <p:nvPr/>
        </p:nvSpPr>
        <p:spPr>
          <a:xfrm>
            <a:off x="594360" y="2047875"/>
            <a:ext cx="10953750" cy="342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  <a:buNone/>
              <a:defRPr sz="2400" b="0">
                <a:solidFill>
                  <a:srgbClr val="34313F"/>
                </a:solidFill>
                <a:latin typeface="Aptos"/>
                <a:ea typeface="Aptos"/>
                <a:cs typeface="Aptos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82878"/>
                </a:solidFill>
                <a:latin typeface="Aptos"/>
              </a:rPr>
              <a:t>• </a:t>
            </a:r>
            <a:r>
              <a:rPr sz="1400" b="1">
                <a:solidFill>
                  <a:srgbClr val="34313F"/>
                </a:solidFill>
                <a:latin typeface="Aptos"/>
              </a:rPr>
              <a:t>Protótipo Totalmente Funcional &amp; Publicado: </a:t>
            </a:r>
            <a:r>
              <a:rPr sz="1400" b="0">
                <a:solidFill>
                  <a:srgbClr val="34313F"/>
                </a:solidFill>
                <a:latin typeface="Aptos"/>
              </a:rPr>
              <a:t>Ambiente em produção na nuvem (Vercel) com rotas ativas: /slides (apresentação técnica), /totem (kiosk autoatendimento) e /app (mobile).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82878"/>
                </a:solidFill>
                <a:latin typeface="Aptos"/>
              </a:rPr>
              <a:t>• </a:t>
            </a:r>
            <a:r>
              <a:rPr sz="1400" b="1">
                <a:solidFill>
                  <a:srgbClr val="34313F"/>
                </a:solidFill>
                <a:latin typeface="Aptos"/>
              </a:rPr>
              <a:t>Telemetria e Impacto em Tempo Real: </a:t>
            </a:r>
            <a:r>
              <a:rPr sz="1400" b="0">
                <a:solidFill>
                  <a:srgbClr val="34313F"/>
                </a:solidFill>
                <a:latin typeface="Aptos"/>
              </a:rPr>
              <a:t>Votos emitidos no totem ou celular atualizam instantaneamente os gráficos de satisfação média, divisão morador/turista e feed ao vivo.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82878"/>
                </a:solidFill>
                <a:latin typeface="Aptos"/>
              </a:rPr>
              <a:t>• </a:t>
            </a:r>
            <a:r>
              <a:rPr sz="1400" b="1">
                <a:solidFill>
                  <a:srgbClr val="34313F"/>
                </a:solidFill>
                <a:latin typeface="Aptos"/>
              </a:rPr>
              <a:t>Zero Fricção &amp; Usabilidade Comprovada: </a:t>
            </a:r>
            <a:r>
              <a:rPr sz="1400" b="0">
                <a:solidFill>
                  <a:srgbClr val="34313F"/>
                </a:solidFill>
                <a:latin typeface="Aptos"/>
              </a:rPr>
              <a:t>Fluxo de autoatendimento concluído em menos de 20 segundos por munícipe, com teclado touch amplo e auto-reset em 3 segundos.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82878"/>
                </a:solidFill>
                <a:latin typeface="Aptos"/>
              </a:rPr>
              <a:t>• </a:t>
            </a:r>
            <a:r>
              <a:rPr sz="1400" b="1">
                <a:solidFill>
                  <a:srgbClr val="34313F"/>
                </a:solidFill>
                <a:latin typeface="Aptos"/>
              </a:rPr>
              <a:t>Validação Multi-dispositivos: </a:t>
            </a:r>
            <a:r>
              <a:rPr sz="1400" b="0">
                <a:solidFill>
                  <a:srgbClr val="34313F"/>
                </a:solidFill>
                <a:latin typeface="Aptos"/>
              </a:rPr>
              <a:t>Comunicação simultânea entre terminal e apresentação via barramento em nuvem e redundância local offline.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85C95607-6F34-4CCC-A03F-F2F6C5802CF1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3172142" cy="243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buNone/>
              <a:defRPr sz="1000" b="1">
                <a:solidFill>
                  <a:srgbClr val="382878"/>
                </a:solidFill>
                <a:latin typeface="Aptos"/>
                <a:ea typeface="Aptos"/>
                <a:cs typeface="Aptos"/>
              </a:defRPr>
            </a:pPr>
            <a:r>
              <a:rPr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MOSTRA DE EXTENSÃO • </a:t>
            </a:r>
            <a:r>
              <a:rPr lang="pt-BR"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SNCT 2026 • Ciência Delas • </a:t>
            </a:r>
            <a:r>
              <a:rPr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IFSP CAMPUS BIRIGUI</a:t>
            </a:r>
          </a:p>
        </p:txBody>
      </p:sp>
    </p:spTree>
    <p:extLst>
      <p:ext uri="{BB962C8B-B14F-4D97-AF65-F5344CB8AC3E}">
        <p14:creationId xmlns:p14="http://schemas.microsoft.com/office/powerpoint/2010/main" val="667235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EEEAB6-9F3D-4ED6-AAE6-D80C1A857E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17AFDB9-65C0-F627-A44C-D49B3B3E8FCB}"/>
              </a:ext>
            </a:extLst>
          </p:cNvPr>
          <p:cNvSpPr>
            <a:spLocks noGrp="1"/>
          </p:cNvSpPr>
          <p:nvPr/>
        </p:nvSpPr>
        <p:spPr>
          <a:xfrm>
            <a:off x="11475720" y="109728"/>
            <a:ext cx="310896" cy="310896"/>
          </a:xfrm>
          <a:prstGeom prst="round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FE96B9-B142-3510-83D8-3F800D3DBDF8}"/>
              </a:ext>
            </a:extLst>
          </p:cNvPr>
          <p:cNvSpPr>
            <a:spLocks noGrp="1"/>
          </p:cNvSpPr>
          <p:nvPr/>
        </p:nvSpPr>
        <p:spPr>
          <a:xfrm>
            <a:off x="11777472" y="109728"/>
            <a:ext cx="274320" cy="274320"/>
          </a:xfrm>
          <a:prstGeom prst="roundRect">
            <a:avLst/>
          </a:prstGeom>
          <a:solidFill>
            <a:srgbClr val="B6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5BFDF-7A9D-F003-7201-1F7D4C70F205}"/>
              </a:ext>
            </a:extLst>
          </p:cNvPr>
          <p:cNvSpPr>
            <a:spLocks noGrp="1"/>
          </p:cNvSpPr>
          <p:nvPr/>
        </p:nvSpPr>
        <p:spPr>
          <a:xfrm>
            <a:off x="594360" y="713232"/>
            <a:ext cx="1051560" cy="22860"/>
          </a:xfrm>
          <a:prstGeom prst="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36FABB-038B-B126-76F2-268BC07CAF75}"/>
              </a:ext>
            </a:extLst>
          </p:cNvPr>
          <p:cNvSpPr>
            <a:spLocks noGrp="1"/>
          </p:cNvSpPr>
          <p:nvPr/>
        </p:nvSpPr>
        <p:spPr>
          <a:xfrm>
            <a:off x="10744200" y="6446520"/>
            <a:ext cx="24638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buNone/>
              <a:defRPr sz="900" b="0">
                <a:solidFill>
                  <a:srgbClr val="6A63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37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929D37C-C661-2416-6039-E3D358F46FCD}"/>
              </a:ext>
            </a:extLst>
          </p:cNvPr>
          <p:cNvSpPr>
            <a:spLocks noGrp="1"/>
          </p:cNvSpPr>
          <p:nvPr/>
        </p:nvSpPr>
        <p:spPr>
          <a:xfrm>
            <a:off x="594360" y="1038225"/>
            <a:ext cx="10953750" cy="628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382878"/>
                </a:solidFill>
                <a:latin typeface="Georgia"/>
                <a:ea typeface="Georgia"/>
                <a:cs typeface="Georgia"/>
              </a:defRPr>
            </a:pPr>
            <a:r>
              <a:rPr sz="2800" b="1" dirty="0" err="1">
                <a:solidFill>
                  <a:srgbClr val="382878"/>
                </a:solidFill>
                <a:latin typeface="Georgia"/>
                <a:ea typeface="Georgia"/>
                <a:cs typeface="Georgia"/>
              </a:rPr>
              <a:t>Próximas</a:t>
            </a:r>
            <a:r>
              <a:rPr sz="2800" b="1" dirty="0">
                <a:solidFill>
                  <a:srgbClr val="382878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800" b="1" dirty="0" err="1">
                <a:solidFill>
                  <a:srgbClr val="382878"/>
                </a:solidFill>
                <a:latin typeface="Georgia"/>
                <a:ea typeface="Georgia"/>
                <a:cs typeface="Georgia"/>
              </a:rPr>
              <a:t>etapas</a:t>
            </a:r>
            <a:endParaRPr sz="2800" b="1" dirty="0">
              <a:solidFill>
                <a:srgbClr val="382878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803CEC4-1FFB-5D99-581E-03C3BF1B38E1}"/>
              </a:ext>
            </a:extLst>
          </p:cNvPr>
          <p:cNvSpPr>
            <a:spLocks noGrp="1"/>
          </p:cNvSpPr>
          <p:nvPr/>
        </p:nvSpPr>
        <p:spPr>
          <a:xfrm>
            <a:off x="594360" y="2047875"/>
            <a:ext cx="10953750" cy="342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  <a:buNone/>
              <a:defRPr sz="2400" b="0">
                <a:solidFill>
                  <a:srgbClr val="34313F"/>
                </a:solidFill>
                <a:latin typeface="Aptos"/>
                <a:ea typeface="Aptos"/>
                <a:cs typeface="Aptos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82878"/>
                </a:solidFill>
                <a:latin typeface="Aptos"/>
              </a:rPr>
              <a:t>• </a:t>
            </a:r>
            <a:r>
              <a:rPr sz="1400" b="1">
                <a:solidFill>
                  <a:srgbClr val="34313F"/>
                </a:solidFill>
                <a:latin typeface="Aptos"/>
              </a:rPr>
              <a:t>1. Estruturação dos Fluxos e Casos de Uso: </a:t>
            </a:r>
            <a:r>
              <a:rPr sz="1400" b="0">
                <a:solidFill>
                  <a:srgbClr val="34313F"/>
                </a:solidFill>
                <a:latin typeface="Aptos"/>
              </a:rPr>
              <a:t>Finalização formal dos diagramas UML de interação (Munícipe, Entrevistador de Campo, Gestor de Turismo e Administrador).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82878"/>
                </a:solidFill>
                <a:latin typeface="Aptos"/>
              </a:rPr>
              <a:t>• </a:t>
            </a:r>
            <a:r>
              <a:rPr sz="1400" b="1">
                <a:solidFill>
                  <a:srgbClr val="34313F"/>
                </a:solidFill>
                <a:latin typeface="Aptos"/>
              </a:rPr>
              <a:t>2. Fabricação Física do Gabinete do Totem: </a:t>
            </a:r>
            <a:r>
              <a:rPr sz="1400" b="0">
                <a:solidFill>
                  <a:srgbClr val="34313F"/>
                </a:solidFill>
                <a:latin typeface="Aptos"/>
              </a:rPr>
              <a:t>Adaptação da estrutura metálica para acomodar o display touch de autoatendimento e módulo de processamento.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82878"/>
                </a:solidFill>
                <a:latin typeface="Aptos"/>
              </a:rPr>
              <a:t>• </a:t>
            </a:r>
            <a:r>
              <a:rPr sz="1400" b="1">
                <a:solidFill>
                  <a:srgbClr val="34313F"/>
                </a:solidFill>
                <a:latin typeface="Aptos"/>
              </a:rPr>
              <a:t>3. Testes de Carga e Segurança: </a:t>
            </a:r>
            <a:r>
              <a:rPr sz="1400" b="0">
                <a:solidFill>
                  <a:srgbClr val="34313F"/>
                </a:solidFill>
                <a:latin typeface="Aptos"/>
              </a:rPr>
              <a:t>Simulação de alta densidade de acessos simultâneos durante os horários de pico dos shows.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82878"/>
                </a:solidFill>
                <a:latin typeface="Aptos"/>
              </a:rPr>
              <a:t>• </a:t>
            </a:r>
            <a:r>
              <a:rPr sz="1400" b="1">
                <a:solidFill>
                  <a:srgbClr val="34313F"/>
                </a:solidFill>
                <a:latin typeface="Aptos"/>
              </a:rPr>
              <a:t>4. Teste Piloto em Evento Real: </a:t>
            </a:r>
            <a:r>
              <a:rPr sz="1400" b="0">
                <a:solidFill>
                  <a:srgbClr val="34313F"/>
                </a:solidFill>
                <a:latin typeface="Aptos"/>
              </a:rPr>
              <a:t>Homologação do sistema no Recinto de Eventos de Promissão em parceria com a Secretaria Municipal de Turismo.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6A827549-D2A2-4978-A053-F29BC0F542BB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3172142" cy="243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buNone/>
              <a:defRPr sz="1000" b="1">
                <a:solidFill>
                  <a:srgbClr val="382878"/>
                </a:solidFill>
                <a:latin typeface="Aptos"/>
                <a:ea typeface="Aptos"/>
                <a:cs typeface="Aptos"/>
              </a:defRPr>
            </a:pPr>
            <a:r>
              <a:rPr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MOSTRA DE EXTENSÃO • </a:t>
            </a:r>
            <a:r>
              <a:rPr lang="pt-BR"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SNCT 2026 • Ciência Delas • </a:t>
            </a:r>
            <a:r>
              <a:rPr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IFSP CAMPUS BIRIGUI</a:t>
            </a:r>
          </a:p>
        </p:txBody>
      </p:sp>
    </p:spTree>
    <p:extLst>
      <p:ext uri="{BB962C8B-B14F-4D97-AF65-F5344CB8AC3E}">
        <p14:creationId xmlns:p14="http://schemas.microsoft.com/office/powerpoint/2010/main" val="89499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616AE6-9AC3-429C-995B-F8DEF5368E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F6D88DA-6601-4E1F-B393-7DE1CD67DFA8}"/>
              </a:ext>
            </a:extLst>
          </p:cNvPr>
          <p:cNvSpPr>
            <a:spLocks noGrp="1"/>
          </p:cNvSpPr>
          <p:nvPr/>
        </p:nvSpPr>
        <p:spPr>
          <a:xfrm>
            <a:off x="11475720" y="109728"/>
            <a:ext cx="310896" cy="310896"/>
          </a:xfrm>
          <a:prstGeom prst="round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4316BED-DD6D-4FFC-8095-A4E29E9F55E3}"/>
              </a:ext>
            </a:extLst>
          </p:cNvPr>
          <p:cNvSpPr>
            <a:spLocks noGrp="1"/>
          </p:cNvSpPr>
          <p:nvPr/>
        </p:nvSpPr>
        <p:spPr>
          <a:xfrm>
            <a:off x="11777472" y="109728"/>
            <a:ext cx="274320" cy="274320"/>
          </a:xfrm>
          <a:prstGeom prst="roundRect">
            <a:avLst/>
          </a:prstGeom>
          <a:solidFill>
            <a:srgbClr val="B6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3CBCBC-7EF3-431A-B60B-5BD0B3C69B82}"/>
              </a:ext>
            </a:extLst>
          </p:cNvPr>
          <p:cNvSpPr>
            <a:spLocks noGrp="1"/>
          </p:cNvSpPr>
          <p:nvPr/>
        </p:nvSpPr>
        <p:spPr>
          <a:xfrm>
            <a:off x="594360" y="713232"/>
            <a:ext cx="1051560" cy="22860"/>
          </a:xfrm>
          <a:prstGeom prst="rect">
            <a:avLst/>
          </a:prstGeom>
          <a:solidFill>
            <a:srgbClr val="38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5CBA7-86AA-4E67-B24D-81C16409A639}"/>
              </a:ext>
            </a:extLst>
          </p:cNvPr>
          <p:cNvSpPr>
            <a:spLocks noGrp="1"/>
          </p:cNvSpPr>
          <p:nvPr/>
        </p:nvSpPr>
        <p:spPr>
          <a:xfrm>
            <a:off x="10744200" y="6446520"/>
            <a:ext cx="24638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buNone/>
              <a:defRPr sz="900" b="0">
                <a:solidFill>
                  <a:srgbClr val="6A63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37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C7F603D-0E52-214E-ED57-C7263B4DF7FF}"/>
              </a:ext>
            </a:extLst>
          </p:cNvPr>
          <p:cNvSpPr>
            <a:spLocks noGrp="1"/>
          </p:cNvSpPr>
          <p:nvPr/>
        </p:nvSpPr>
        <p:spPr>
          <a:xfrm>
            <a:off x="594360" y="1038225"/>
            <a:ext cx="10953750" cy="628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382878"/>
                </a:solidFill>
                <a:latin typeface="Georgia"/>
                <a:ea typeface="Georgia"/>
                <a:cs typeface="Georgia"/>
              </a:defRPr>
            </a:pPr>
            <a:r>
              <a:rPr sz="2800" b="1" dirty="0" err="1">
                <a:solidFill>
                  <a:srgbClr val="382878"/>
                </a:solidFill>
                <a:latin typeface="Georgia"/>
                <a:ea typeface="Georgia"/>
                <a:cs typeface="Georgia"/>
              </a:rPr>
              <a:t>Conclusões</a:t>
            </a:r>
            <a:endParaRPr sz="2800" b="1" dirty="0">
              <a:solidFill>
                <a:srgbClr val="382878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B90422B-D208-6FCF-2702-49506167036E}"/>
              </a:ext>
            </a:extLst>
          </p:cNvPr>
          <p:cNvSpPr>
            <a:spLocks noGrp="1"/>
          </p:cNvSpPr>
          <p:nvPr/>
        </p:nvSpPr>
        <p:spPr>
          <a:xfrm>
            <a:off x="594360" y="2047875"/>
            <a:ext cx="10953750" cy="342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  <a:buNone/>
              <a:defRPr sz="2400" b="0">
                <a:solidFill>
                  <a:srgbClr val="34313F"/>
                </a:solidFill>
                <a:latin typeface="Aptos"/>
                <a:ea typeface="Aptos"/>
                <a:cs typeface="Aptos"/>
              </a:defRPr>
            </a:pPr>
            <a:endParaRPr sz="2400">
              <a:latin typeface="Arial"/>
              <a:ea typeface="Arial"/>
              <a:cs typeface="Arial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82878"/>
                </a:solidFill>
                <a:latin typeface="Aptos"/>
              </a:rPr>
              <a:t>• </a:t>
            </a:r>
            <a:r>
              <a:rPr sz="1400" b="1">
                <a:solidFill>
                  <a:srgbClr val="34313F"/>
                </a:solidFill>
                <a:latin typeface="Aptos"/>
              </a:rPr>
              <a:t>Integração Ensino-Sociedade: </a:t>
            </a:r>
            <a:r>
              <a:rPr sz="1400" b="0">
                <a:solidFill>
                  <a:srgbClr val="34313F"/>
                </a:solidFill>
                <a:latin typeface="Aptos"/>
              </a:rPr>
              <a:t>Aplicação direta dos conhecimentos do curso de TSI em uma demanda real de gestão pública do município parceiro.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82878"/>
                </a:solidFill>
                <a:latin typeface="Aptos"/>
              </a:rPr>
              <a:t>• </a:t>
            </a:r>
            <a:r>
              <a:rPr sz="1400" b="1">
                <a:solidFill>
                  <a:srgbClr val="34313F"/>
                </a:solidFill>
                <a:latin typeface="Aptos"/>
              </a:rPr>
              <a:t>Ganhos Evidentes para a Prefeitura: </a:t>
            </a:r>
            <a:r>
              <a:rPr sz="1400" b="0">
                <a:solidFill>
                  <a:srgbClr val="34313F"/>
                </a:solidFill>
                <a:latin typeface="Aptos"/>
              </a:rPr>
              <a:t>Eliminação de custos com centenas de questionários de papel, fim do retrabalho de digitação e dados confiáveis para justificar investimentos.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82878"/>
                </a:solidFill>
                <a:latin typeface="Aptos"/>
              </a:rPr>
              <a:t>• </a:t>
            </a:r>
            <a:r>
              <a:rPr sz="1400" b="1">
                <a:solidFill>
                  <a:srgbClr val="34313F"/>
                </a:solidFill>
                <a:latin typeface="Aptos"/>
              </a:rPr>
              <a:t>Cidadania Ativa &amp; Inclusão: </a:t>
            </a:r>
            <a:r>
              <a:rPr sz="1400" b="0">
                <a:solidFill>
                  <a:srgbClr val="34313F"/>
                </a:solidFill>
                <a:latin typeface="Aptos"/>
              </a:rPr>
              <a:t>Voz garantida a jovens, idosos e moradores da zona rural de maneira acessível, moderna e transparente.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82878"/>
                </a:solidFill>
                <a:latin typeface="Aptos"/>
              </a:rPr>
              <a:t>• </a:t>
            </a:r>
            <a:r>
              <a:rPr sz="1400" b="1">
                <a:solidFill>
                  <a:srgbClr val="34313F"/>
                </a:solidFill>
                <a:latin typeface="Aptos"/>
              </a:rPr>
              <a:t>Maturidade do Projeto: </a:t>
            </a:r>
            <a:r>
              <a:rPr sz="1400" b="0">
                <a:solidFill>
                  <a:srgbClr val="34313F"/>
                </a:solidFill>
                <a:latin typeface="Aptos"/>
              </a:rPr>
              <a:t>Apresentação com protótipo vivo, banco de dados conectado e arquitetura validada — demonstrando alto potencial de impacto para a Mostra de Extensão.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1664F2A0-0F9D-4D27-AF46-9EE369741D55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3172142" cy="243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buNone/>
              <a:defRPr sz="1000" b="1">
                <a:solidFill>
                  <a:srgbClr val="382878"/>
                </a:solidFill>
                <a:latin typeface="Aptos"/>
                <a:ea typeface="Aptos"/>
                <a:cs typeface="Aptos"/>
              </a:defRPr>
            </a:pPr>
            <a:r>
              <a:rPr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MOSTRA DE EXTENSÃO • </a:t>
            </a:r>
            <a:r>
              <a:rPr lang="pt-BR"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SNCT 2026 • Ciência Delas • </a:t>
            </a:r>
            <a:r>
              <a:rPr sz="1000" b="1" dirty="0">
                <a:solidFill>
                  <a:srgbClr val="382878"/>
                </a:solidFill>
                <a:latin typeface="Aptos"/>
                <a:ea typeface="Aptos"/>
                <a:cs typeface="Aptos"/>
              </a:rPr>
              <a:t>IFSP CAMPUS BIRIGUI</a:t>
            </a:r>
          </a:p>
        </p:txBody>
      </p:sp>
    </p:spTree>
    <p:extLst>
      <p:ext uri="{BB962C8B-B14F-4D97-AF65-F5344CB8AC3E}">
        <p14:creationId xmlns:p14="http://schemas.microsoft.com/office/powerpoint/2010/main" val="1629458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222</Words>
  <Application>Microsoft Office PowerPoint</Application>
  <DocSecurity>0</DocSecurity>
  <PresentationFormat>Widescreen</PresentationFormat>
  <Paragraphs>33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soares</cp:lastModifiedBy>
  <cp:revision>1</cp:revision>
  <dcterms:created xsi:type="dcterms:W3CDTF">2026-10-07T19:21:02Z</dcterms:created>
  <dcterms:modified xsi:type="dcterms:W3CDTF">2026-10-22T22:50:37Z</dcterms:modified>
</cp:coreProperties>
</file>